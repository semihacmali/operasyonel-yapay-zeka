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8" r:id="rId2"/>
    <p:sldId id="282" r:id="rId3"/>
    <p:sldId id="296" r:id="rId4"/>
    <p:sldId id="297" r:id="rId5"/>
    <p:sldId id="298" r:id="rId6"/>
    <p:sldId id="299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46" d="100"/>
          <a:sy n="46" d="100"/>
        </p:scale>
        <p:origin x="38" y="941"/>
      </p:cViewPr>
      <p:guideLst/>
    </p:cSldViewPr>
  </p:slideViewPr>
  <p:notesTextViewPr>
    <p:cViewPr>
      <p:scale>
        <a:sx n="1" d="1"/>
        <a:sy n="1" d="1"/>
      </p:scale>
      <p:origin x="0" y="-23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17CE6-7691-1D44-BFCD-FBDB21CEC9EE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6B6A7-E5EE-9F46-B37F-4F4A11B89C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2052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09E36-94EE-1617-08A7-6C7D993D8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BDB1B3B3-1C2C-DCCF-E936-FE3F326E8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1898D103-E9BA-1A64-C185-E2F5E7A5FBD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E91B1F5D-A22F-3AD1-9B07-60942A7084FF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738270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D80E-FB76-9492-9507-5E6FBAD6F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DB1A52A-D28E-EDCA-2801-62A1FB175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C76E5DA2-78D5-378B-27F7-A136B5F4D04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7EA7E265-A9D2-402A-D284-1407F9984138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187725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52B60-8D71-6547-0447-0F4D360E1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6826F913-ED32-007B-4832-9CFFC7102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5EF36BB2-88F8-FE06-EB97-879B3D3268C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1BD8FAEC-90DB-E22C-55F3-B9CE51D1CB32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781710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90F13-9DC6-9B9C-0043-19B099AE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36B2B9C5-80EC-2C52-C297-345719095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8549B25C-97DA-A2C5-501E-3C226C14F0A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A9D08AFC-E3B5-0910-82DE-40EFBBA213FE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468883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04250-5D15-4CC1-B8D2-373C48BFF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4A7A7DB-29DE-9346-329F-87A78E764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B625A0C5-1EFA-147E-FB35-4AF43A99C84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AFE7FC82-7DA1-93B7-21AB-1CD76BF7115C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617274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81C6C-0522-AC8B-FD5E-E4434CF6F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98D4DCE9-0062-3D1E-FA0D-36369C9E2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3C8ABA4F-8B2E-71A3-DEAB-8521B02FF25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tr-TR" sz="2000" dirty="0"/>
              <a:t>Derin öğrenmenin güçlü olduğu kadar sınırlı olduğu noktalar da vardır. Çok büyük miktarda veriye ihtiyaç duyar. Eğitimi için güçlü </a:t>
            </a:r>
            <a:r>
              <a:rPr lang="tr-TR" sz="2000" dirty="0" err="1"/>
              <a:t>GPU’lar</a:t>
            </a:r>
            <a:r>
              <a:rPr lang="tr-TR" sz="2000" dirty="0"/>
              <a:t> gerekir, bu da maliyet demektir. Ayrıca derin ağların eğitimi saatler, günler hatta aylar sürebilir.</a:t>
            </a: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dirty="0"/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2000" dirty="0"/>
              <a:t>Bugün derin öğrenmenin temel mantığını, sinir ağlarının nasıl çalıştığını ve uygulama alanlarını gördük. Ancak unutmayalım: derin öğrenme aslında yapay zekânın güçlü bir aracıdır. Bir sonraki bölümde daha geniş bir perspektifle ‘Yapay Zeka nedir?’ sorusuna odaklanacağız.</a:t>
            </a: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0DD6F336-014A-D79C-55C0-6771EAED97F4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665830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3C1F98-1119-C439-00BD-18D153B3D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E467180-72F0-39B8-F998-F4A5D07B7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EB0F375-6A7F-B2AC-43E3-6D283B42D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5BF1446-34BB-DE9B-6057-B70A1806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9A0B88A-7EC8-9E63-E053-87560A62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52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63D46E-655B-6170-DBBB-4B669A5B9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5CD077-2903-98CA-45B4-ECFC550D0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7386F9E-162C-A576-0C85-53943F4E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1B9E3EC-65D0-EC98-7233-7D41EBBE6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2671E9E-92CF-5A56-F769-8B8969BE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294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7BA7758-DAB9-1395-4A5A-F80F321E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4C887AC-FC3B-B1E5-2926-B067CAB6E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4C5FF56-5069-F0B5-5CF0-6CBBC46A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8805D18-4372-9C64-89D4-7A8DDEBDC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06D69AD-13AF-389D-E853-95FA0A0C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647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F35925-7E1E-2287-1352-59178507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51851F6-7A7A-6E88-1E53-606D56D55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61954B8-7DE3-6B66-A7E8-08A63AB1C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F20451A-36FC-3AA7-84C4-244FC4E2F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7BC83CF-3CC8-95DE-C3A2-0680F60B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C8F2665-0A9E-8590-EF98-C16BA72E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675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AC4E4E-8BE2-DEC0-E365-5078747E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15D230D-2C51-02CB-7151-E875F4C6C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681F9EF-8878-8DB0-4599-6A834DA16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EF08185-6E0D-5E85-EC09-E24D66A34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17883B8-14C9-0340-AD3F-70ADE46A1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AA7A2FC-1B82-20AA-1602-116B81E4B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6345A09-BA9B-2C43-511E-D9F908ED6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401C95A-D624-46B0-3CC2-18610711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008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C4A1A8-BF08-B1D9-F77F-F49C2CF3C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FA4AC1D-6BD7-0EC2-1CCF-DF3A49A90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3A6C47A-43F7-3949-A814-160C2AF63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687BC2B-3F29-A25E-93FD-4C073D1A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700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769AAA0-E794-2F8F-765B-824DAF8B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0F89A9F-05DF-5A8E-DC4C-B7635FC0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1C2C56-E87A-7900-F003-9C641B08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3346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FC8109-EE00-B155-30F8-63C9C7FF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D58347D-60C4-B4C8-5D7D-8900F44C3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3FA6D19-A7F4-EA9A-2AA8-2ADB91FFD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A748957-D466-F5CE-6BB9-2DA93390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DA5C434-F004-FF0C-1901-F5AFB8A0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F0D13E1-36E5-72E6-3925-8AEF674D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895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0D9076-C997-CBF9-CDC7-A1C5AA28E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1B92ECE-FCB0-799C-907D-78FC2C9D5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143142D-C3EB-F70D-EFFC-2A9BB3751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7620682-F828-68E1-003B-1CB7BF886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B673E6B-3B26-843A-20FF-46A3E1BF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3360880-60B9-1DD7-EA8E-CB14CFF9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408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844853-D4F4-1E74-DC56-938C0A430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55D4F98-F8F1-B381-5285-3C2B21AD4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D404763-B084-F8CB-ADEA-497DC532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A1BF1F5-C726-3D41-51A4-2A9D2DB0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D07E755-360C-989D-9414-90F36D06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377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318E9149-40D7-73BC-FA1F-B4513188E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BA61250-8B56-D081-2E2F-BC6CDFD35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79F877B-DED1-17B5-C22B-1C883530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D67B3E1-C7F2-F4EC-7A76-43B31AAC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0C6A285-490B-5629-98A4-CD11E1537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07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76ED70B6-FC5C-6925-B232-E6FBBEF5A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199B80D-6DE3-A0CC-27B6-114BBCACC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105A4A2-2803-63CE-E845-997F7C648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4A2D3FC-8398-78D1-16F4-5D72E3537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36319BD-BE54-B922-EC24-CFFE55BC4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613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C460D-4B4E-3BF3-C7F5-24CA8B23F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reeform 9">
            <a:extLst>
              <a:ext uri="{FF2B5EF4-FFF2-40B4-BE49-F238E27FC236}">
                <a16:creationId xmlns:a16="http://schemas.microsoft.com/office/drawing/2014/main" id="{881C6781-B144-B9A2-D281-8343A7708A0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" name="Freeform 10">
            <a:extLst>
              <a:ext uri="{FF2B5EF4-FFF2-40B4-BE49-F238E27FC236}">
                <a16:creationId xmlns:a16="http://schemas.microsoft.com/office/drawing/2014/main" id="{7FC75BF2-BA8B-B1EE-D464-AD5CE6157D82}"/>
              </a:ext>
            </a:extLst>
          </p:cNvPr>
          <p:cNvSpPr/>
          <p:nvPr/>
        </p:nvSpPr>
        <p:spPr>
          <a:xfrm>
            <a:off x="1444680" y="741600"/>
            <a:ext cx="93240" cy="447120"/>
          </a:xfrm>
          <a:custGeom>
            <a:avLst/>
            <a:gdLst>
              <a:gd name="textAreaLeft" fmla="*/ 0 w 93240"/>
              <a:gd name="textAreaRight" fmla="*/ 93600 w 93240"/>
              <a:gd name="textAreaTop" fmla="*/ 0 h 447120"/>
              <a:gd name="textAreaBottom" fmla="*/ 447480 h 447120"/>
            </a:gdLst>
            <a:ahLst/>
            <a:cxnLst/>
            <a:rect l="textAreaLeft" t="textAreaTop" r="textAreaRight" b="textAreaBottom"/>
            <a:pathLst>
              <a:path w="118" h="564">
                <a:moveTo>
                  <a:pt x="118" y="0"/>
                </a:moveTo>
                <a:lnTo>
                  <a:pt x="0" y="126"/>
                </a:lnTo>
                <a:lnTo>
                  <a:pt x="0" y="564"/>
                </a:lnTo>
                <a:lnTo>
                  <a:pt x="118" y="452"/>
                </a:lnTo>
                <a:lnTo>
                  <a:pt x="11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1" name="Freeform 17">
            <a:extLst>
              <a:ext uri="{FF2B5EF4-FFF2-40B4-BE49-F238E27FC236}">
                <a16:creationId xmlns:a16="http://schemas.microsoft.com/office/drawing/2014/main" id="{44DF1DA5-B0CD-E185-B64F-9CCF9708F3B9}"/>
              </a:ext>
            </a:extLst>
          </p:cNvPr>
          <p:cNvSpPr/>
          <p:nvPr/>
        </p:nvSpPr>
        <p:spPr>
          <a:xfrm>
            <a:off x="3400200" y="784440"/>
            <a:ext cx="604440" cy="704520"/>
          </a:xfrm>
          <a:custGeom>
            <a:avLst/>
            <a:gdLst>
              <a:gd name="textAreaLeft" fmla="*/ 0 w 604440"/>
              <a:gd name="textAreaRight" fmla="*/ 604800 w 604440"/>
              <a:gd name="textAreaTop" fmla="*/ 0 h 704520"/>
              <a:gd name="textAreaBottom" fmla="*/ 704880 h 704520"/>
            </a:gdLst>
            <a:ahLst/>
            <a:cxnLst/>
            <a:rect l="textAreaLeft" t="textAreaTop" r="textAreaRight" b="textAreaBottom"/>
            <a:pathLst>
              <a:path w="762" h="888">
                <a:moveTo>
                  <a:pt x="524" y="888"/>
                </a:moveTo>
                <a:lnTo>
                  <a:pt x="188" y="446"/>
                </a:lnTo>
                <a:lnTo>
                  <a:pt x="188" y="888"/>
                </a:lnTo>
                <a:lnTo>
                  <a:pt x="0" y="888"/>
                </a:lnTo>
                <a:lnTo>
                  <a:pt x="0" y="0"/>
                </a:lnTo>
                <a:lnTo>
                  <a:pt x="188" y="0"/>
                </a:lnTo>
                <a:lnTo>
                  <a:pt x="188" y="426"/>
                </a:lnTo>
                <a:lnTo>
                  <a:pt x="536" y="0"/>
                </a:lnTo>
                <a:lnTo>
                  <a:pt x="760" y="0"/>
                </a:lnTo>
                <a:lnTo>
                  <a:pt x="404" y="434"/>
                </a:lnTo>
                <a:lnTo>
                  <a:pt x="762" y="888"/>
                </a:lnTo>
                <a:lnTo>
                  <a:pt x="524" y="88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5E3C7982-CE74-4234-847F-0C02E7B1D311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C24DC6C6-86C9-32E2-53B9-9097FE2D769D}"/>
              </a:ext>
            </a:extLst>
          </p:cNvPr>
          <p:cNvSpPr txBox="1"/>
          <p:nvPr/>
        </p:nvSpPr>
        <p:spPr>
          <a:xfrm>
            <a:off x="1360279" y="2807368"/>
            <a:ext cx="947120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5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Derin Öğrenme Nedir?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910D51CB-65F7-AD5C-39A0-70465E73AE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1091976" y="400513"/>
            <a:ext cx="628745" cy="400110"/>
          </a:xfrm>
          <a:prstGeom prst="rect">
            <a:avLst/>
          </a:prstGeom>
        </p:spPr>
      </p:pic>
      <p:pic>
        <p:nvPicPr>
          <p:cNvPr id="5" name="Resim 4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55EBB53-A9D9-3347-45EF-8F68AD7AA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79" y="400513"/>
            <a:ext cx="891484" cy="32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05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1732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F3980-68AA-E2EC-424E-1E9550A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8A6242F3-F998-A439-181F-B8D880559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8A67E39-92C2-C9C5-4DCB-55B82E51BBB2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74E85B3E-5A9F-46B2-B9CD-B62B51E2BBD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10E5F59B-C142-8C57-4B5A-40866C121D32}"/>
              </a:ext>
            </a:extLst>
          </p:cNvPr>
          <p:cNvSpPr txBox="1"/>
          <p:nvPr/>
        </p:nvSpPr>
        <p:spPr>
          <a:xfrm>
            <a:off x="380779" y="341490"/>
            <a:ext cx="4482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Derin Öğrenme: Giriş 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416799E9-60DF-BAB2-99F6-720C8404792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595A1E61-7C8E-5195-FC3F-D0073717138F}"/>
              </a:ext>
            </a:extLst>
          </p:cNvPr>
          <p:cNvSpPr txBox="1"/>
          <p:nvPr/>
        </p:nvSpPr>
        <p:spPr>
          <a:xfrm>
            <a:off x="5655772" y="2799785"/>
            <a:ext cx="49377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</a:t>
            </a: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fotoğraf gruplama, sesli asistanlar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Derin Öğrenme ⊂ Makine Öğrenmesi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İlham kaynağı: </a:t>
            </a: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İnsan beynindeki sinir ağları</a:t>
            </a: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30F3E71-849D-A3C4-AF16-315ED0C52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FFA1C100-A55C-4536-B34E-F33C336BC5C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790" t="21318" r="6491" b="16903"/>
          <a:stretch>
            <a:fillRect/>
          </a:stretch>
        </p:blipFill>
        <p:spPr>
          <a:xfrm>
            <a:off x="1598468" y="2602740"/>
            <a:ext cx="3515049" cy="165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558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5B7E0-8BD4-89A7-C832-0AB3FD5A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E9D1966C-02BB-2F23-598F-D2115ADAC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6C290FF-CD5B-4772-6D81-625245164EF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A6FBF17C-19B7-B530-8352-3F115D78FB2C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77696E4-74DF-E361-4E42-1D329A30D246}"/>
              </a:ext>
            </a:extLst>
          </p:cNvPr>
          <p:cNvSpPr txBox="1"/>
          <p:nvPr/>
        </p:nvSpPr>
        <p:spPr>
          <a:xfrm>
            <a:off x="380779" y="3414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Derin Öğrenme ile Makine Öğrenmesi Farkı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2256BD1C-BCC2-7340-F65A-6DCD04692E5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055F1E8D-81E0-F1FB-AF99-4CA6118697FD}"/>
              </a:ext>
            </a:extLst>
          </p:cNvPr>
          <p:cNvSpPr txBox="1"/>
          <p:nvPr/>
        </p:nvSpPr>
        <p:spPr>
          <a:xfrm>
            <a:off x="6369688" y="2799785"/>
            <a:ext cx="416290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Makine Öğrenmesi: Özellikleri insan belirler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Derin Öğrenme: Ağ otomatik çıkarım yapar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Daha fazla veri ve hesaplama gücü gerekir</a:t>
            </a: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D4640C6-1C8A-4ACC-B55F-B5556F4A1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AE01CB09-31CA-4DBE-963D-3927DDD842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9403" y="2422676"/>
            <a:ext cx="3863785" cy="201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25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2B684-E3C2-D820-2168-D9083BDB6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E90B9EDD-833F-1F4A-F36F-A0B0D96A1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64FB6BBB-CD55-B218-4CCB-58AF7B1167C9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B21AA857-0236-38FF-4FC9-20E578A09D59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28B80504-6E12-8D29-3FCC-EAFBCB6FC454}"/>
              </a:ext>
            </a:extLst>
          </p:cNvPr>
          <p:cNvSpPr txBox="1"/>
          <p:nvPr/>
        </p:nvSpPr>
        <p:spPr>
          <a:xfrm>
            <a:off x="380779" y="3414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Yapay Sinir Ağı Yapısı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2F70CEDF-C04C-B98C-EF72-6CDC86DFDA7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CD16875-9F2A-9CD3-A60A-2A09A1CBB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9FAC6837-250E-AD9A-5799-950DE922279B}"/>
              </a:ext>
            </a:extLst>
          </p:cNvPr>
          <p:cNvSpPr txBox="1"/>
          <p:nvPr/>
        </p:nvSpPr>
        <p:spPr>
          <a:xfrm>
            <a:off x="3046615" y="3248490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tr-TR" dirty="0"/>
          </a:p>
        </p:txBody>
      </p:sp>
      <p:pic>
        <p:nvPicPr>
          <p:cNvPr id="19" name="Resim 18">
            <a:extLst>
              <a:ext uri="{FF2B5EF4-FFF2-40B4-BE49-F238E27FC236}">
                <a16:creationId xmlns:a16="http://schemas.microsoft.com/office/drawing/2014/main" id="{51ECD601-ED99-4176-8BD5-42B2D56D2C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5120" y="1461960"/>
            <a:ext cx="3866708" cy="3813843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77B171CA-3BC2-BEB5-359F-048F83E188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1412" y="2351076"/>
            <a:ext cx="3659926" cy="215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568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E9F35-15F7-D2C3-2618-F6CEB2DF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D69EE04B-149B-23B0-C2C2-CA32D186F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E677E1E3-9A2E-DFA1-B648-4F6427D934CA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2EEA832F-F5AC-2888-7495-8ED9938B65A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D45BFEC4-E241-A325-3671-CE889337DA7A}"/>
              </a:ext>
            </a:extLst>
          </p:cNvPr>
          <p:cNvSpPr txBox="1"/>
          <p:nvPr/>
        </p:nvSpPr>
        <p:spPr>
          <a:xfrm>
            <a:off x="380779" y="3414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Uygulama Alanları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DA726276-0023-743D-27E2-998C01CF606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71FF497B-D9D9-DDA3-E805-A2A342DCA807}"/>
              </a:ext>
            </a:extLst>
          </p:cNvPr>
          <p:cNvSpPr txBox="1"/>
          <p:nvPr/>
        </p:nvSpPr>
        <p:spPr>
          <a:xfrm>
            <a:off x="6093229" y="2625242"/>
            <a:ext cx="416290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Görüntü tanıma ( MRI analizi, otonom araçlar)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Doğal dil işleme (çeviri, </a:t>
            </a: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chatbot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 tanıma (asistanlar)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222EFD7-54B6-6B60-667B-885E4287A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4A349700-56E2-E68E-8640-8E8FED6EF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4549" y="2509903"/>
            <a:ext cx="4201109" cy="184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585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3AAF7-AC9C-8367-BDE9-8D34E0EA7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3759D73D-3C18-BDEE-2C6C-C393B3414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AF8B1C2D-3BDF-D39E-5EE5-4FED112D088B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14D3D390-8DBF-7F22-898B-61CF0EA596D8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5ABDB3E0-360C-3681-0B9B-155FA950FF71}"/>
              </a:ext>
            </a:extLst>
          </p:cNvPr>
          <p:cNvSpPr txBox="1"/>
          <p:nvPr/>
        </p:nvSpPr>
        <p:spPr>
          <a:xfrm>
            <a:off x="380779" y="3414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Sınırlılıklar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B952BA51-4DFD-B591-1222-4C0000B8816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341A8D68-0D51-4DB3-E2A3-433A96889942}"/>
              </a:ext>
            </a:extLst>
          </p:cNvPr>
          <p:cNvSpPr txBox="1"/>
          <p:nvPr/>
        </p:nvSpPr>
        <p:spPr>
          <a:xfrm>
            <a:off x="6303971" y="2684369"/>
            <a:ext cx="41629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Büyük veri ihtiyacı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Yüksek işlem gücü (GPU, TPU)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 eğitim süreleri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F791E70-208C-FD63-9B6A-22D564FA3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AFEE7010-F860-76BA-39E9-C6E1CD40FA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5120" y="2401290"/>
            <a:ext cx="3670393" cy="205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456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185</Words>
  <Application>Microsoft Office PowerPoint</Application>
  <PresentationFormat>Geniş ekran</PresentationFormat>
  <Paragraphs>35</Paragraphs>
  <Slides>6</Slides>
  <Notes>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Times New Roman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Mahmut İbrahim AYKAÇ</dc:creator>
  <cp:lastModifiedBy>SemihAcmali</cp:lastModifiedBy>
  <cp:revision>28</cp:revision>
  <dcterms:created xsi:type="dcterms:W3CDTF">2025-05-08T09:17:15Z</dcterms:created>
  <dcterms:modified xsi:type="dcterms:W3CDTF">2025-09-05T20:20:49Z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eodilabelclass">
    <vt:lpwstr>id_classification_Kapsamdisi=0ef0d4bf-59b8-4ae6-bbc0-fafde041157b</vt:lpwstr>
  </property>
  <property fmtid="{D5CDD505-2E9C-101B-9397-08002B2CF9AE}" pid="3" name="geodilabeluser">
    <vt:lpwstr>user=zeynep.can</vt:lpwstr>
  </property>
  <property fmtid="{D5CDD505-2E9C-101B-9397-08002B2CF9AE}" pid="4" name="geodilabeltime">
    <vt:lpwstr>datetime=2025-06-30T10:33:33.658Z</vt:lpwstr>
  </property>
</Properties>
</file>